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6" r:id="rId1"/>
  </p:sldMasterIdLst>
  <p:sldIdLst>
    <p:sldId id="256" r:id="rId2"/>
    <p:sldId id="275" r:id="rId3"/>
    <p:sldId id="266" r:id="rId4"/>
    <p:sldId id="274" r:id="rId5"/>
    <p:sldId id="282" r:id="rId6"/>
    <p:sldId id="263" r:id="rId7"/>
    <p:sldId id="264" r:id="rId8"/>
    <p:sldId id="265" r:id="rId9"/>
    <p:sldId id="268" r:id="rId10"/>
    <p:sldId id="280" r:id="rId11"/>
    <p:sldId id="281" r:id="rId12"/>
    <p:sldId id="277" r:id="rId13"/>
    <p:sldId id="273" r:id="rId14"/>
    <p:sldId id="272" r:id="rId15"/>
    <p:sldId id="262" r:id="rId16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F8960-85B7-4066-93A9-274A3981B17F}" v="46" dt="2026-07-25T04:17:44.0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ja hussain" userId="4e1fe78a519a1d22" providerId="LiveId" clId="{BFEA681B-A70F-4ED4-9D02-8CC26EF55A59}"/>
    <pc:docChg chg="undo custSel addSld delSld modSld sldOrd">
      <pc:chgData name="khaja hussain" userId="4e1fe78a519a1d22" providerId="LiveId" clId="{BFEA681B-A70F-4ED4-9D02-8CC26EF55A59}" dt="2026-07-25T04:17:46.558" v="646" actId="20577"/>
      <pc:docMkLst>
        <pc:docMk/>
      </pc:docMkLst>
      <pc:sldChg chg="addSp modSp mod">
        <pc:chgData name="khaja hussain" userId="4e1fe78a519a1d22" providerId="LiveId" clId="{BFEA681B-A70F-4ED4-9D02-8CC26EF55A59}" dt="2026-07-25T03:45:02.856" v="417" actId="207"/>
        <pc:sldMkLst>
          <pc:docMk/>
          <pc:sldMk cId="0" sldId="256"/>
        </pc:sldMkLst>
        <pc:spChg chg="add mod">
          <ac:chgData name="khaja hussain" userId="4e1fe78a519a1d22" providerId="LiveId" clId="{BFEA681B-A70F-4ED4-9D02-8CC26EF55A59}" dt="2026-07-25T03:45:02.856" v="417" actId="207"/>
          <ac:spMkLst>
            <pc:docMk/>
            <pc:sldMk cId="0" sldId="256"/>
            <ac:spMk id="2" creationId="{3B429E37-9E7A-2FEE-F8E1-100E4487BE9F}"/>
          </ac:spMkLst>
        </pc:spChg>
        <pc:spChg chg="mod">
          <ac:chgData name="khaja hussain" userId="4e1fe78a519a1d22" providerId="LiveId" clId="{BFEA681B-A70F-4ED4-9D02-8CC26EF55A59}" dt="2026-07-25T03:32:03.430" v="305" actId="404"/>
          <ac:spMkLst>
            <pc:docMk/>
            <pc:sldMk cId="0" sldId="256"/>
            <ac:spMk id="3" creationId="{00000000-0000-0000-0000-000000000000}"/>
          </ac:spMkLst>
        </pc:spChg>
        <pc:spChg chg="mod">
          <ac:chgData name="khaja hussain" userId="4e1fe78a519a1d22" providerId="LiveId" clId="{BFEA681B-A70F-4ED4-9D02-8CC26EF55A59}" dt="2026-07-25T03:31:27.023" v="303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del mod">
        <pc:chgData name="khaja hussain" userId="4e1fe78a519a1d22" providerId="LiveId" clId="{BFEA681B-A70F-4ED4-9D02-8CC26EF55A59}" dt="2026-07-25T03:42:15.428" v="386" actId="47"/>
        <pc:sldMkLst>
          <pc:docMk/>
          <pc:sldMk cId="0" sldId="257"/>
        </pc:sldMkLst>
        <pc:spChg chg="mod">
          <ac:chgData name="khaja hussain" userId="4e1fe78a519a1d22" providerId="LiveId" clId="{BFEA681B-A70F-4ED4-9D02-8CC26EF55A59}" dt="2026-07-25T03:33:38.579" v="32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khaja hussain" userId="4e1fe78a519a1d22" providerId="LiveId" clId="{BFEA681B-A70F-4ED4-9D02-8CC26EF55A59}" dt="2026-07-25T03:36:17.526" v="345" actId="20577"/>
          <ac:spMkLst>
            <pc:docMk/>
            <pc:sldMk cId="0" sldId="257"/>
            <ac:spMk id="6" creationId="{00000000-0000-0000-0000-000000000000}"/>
          </ac:spMkLst>
        </pc:spChg>
        <pc:picChg chg="mod">
          <ac:chgData name="khaja hussain" userId="4e1fe78a519a1d22" providerId="LiveId" clId="{BFEA681B-A70F-4ED4-9D02-8CC26EF55A59}" dt="2026-07-25T03:34:14.530" v="328" actId="1076"/>
          <ac:picMkLst>
            <pc:docMk/>
            <pc:sldMk cId="0" sldId="257"/>
            <ac:picMk id="3" creationId="{00000000-0000-0000-0000-000000000000}"/>
          </ac:picMkLst>
        </pc:picChg>
      </pc:sldChg>
      <pc:sldChg chg="del">
        <pc:chgData name="khaja hussain" userId="4e1fe78a519a1d22" providerId="LiveId" clId="{BFEA681B-A70F-4ED4-9D02-8CC26EF55A59}" dt="2026-07-25T03:42:17.881" v="387" actId="47"/>
        <pc:sldMkLst>
          <pc:docMk/>
          <pc:sldMk cId="0" sldId="258"/>
        </pc:sldMkLst>
      </pc:sldChg>
      <pc:sldChg chg="del">
        <pc:chgData name="khaja hussain" userId="4e1fe78a519a1d22" providerId="LiveId" clId="{BFEA681B-A70F-4ED4-9D02-8CC26EF55A59}" dt="2026-07-25T03:45:55.804" v="423" actId="47"/>
        <pc:sldMkLst>
          <pc:docMk/>
          <pc:sldMk cId="0" sldId="260"/>
        </pc:sldMkLst>
      </pc:sldChg>
      <pc:sldChg chg="del">
        <pc:chgData name="khaja hussain" userId="4e1fe78a519a1d22" providerId="LiveId" clId="{BFEA681B-A70F-4ED4-9D02-8CC26EF55A59}" dt="2026-07-25T03:45:58.180" v="424" actId="47"/>
        <pc:sldMkLst>
          <pc:docMk/>
          <pc:sldMk cId="0" sldId="261"/>
        </pc:sldMkLst>
      </pc:sldChg>
      <pc:sldChg chg="addSp delSp modSp add mod">
        <pc:chgData name="khaja hussain" userId="4e1fe78a519a1d22" providerId="LiveId" clId="{BFEA681B-A70F-4ED4-9D02-8CC26EF55A59}" dt="2026-07-25T04:17:46.558" v="646" actId="20577"/>
        <pc:sldMkLst>
          <pc:docMk/>
          <pc:sldMk cId="1666536429" sldId="263"/>
        </pc:sldMkLst>
        <pc:spChg chg="mod">
          <ac:chgData name="khaja hussain" userId="4e1fe78a519a1d22" providerId="LiveId" clId="{BFEA681B-A70F-4ED4-9D02-8CC26EF55A59}" dt="2026-07-25T04:17:46.558" v="646" actId="20577"/>
          <ac:spMkLst>
            <pc:docMk/>
            <pc:sldMk cId="1666536429" sldId="263"/>
            <ac:spMk id="6" creationId="{94764363-38B9-A7DB-0C37-E865A004E609}"/>
          </ac:spMkLst>
        </pc:spChg>
        <pc:spChg chg="add del">
          <ac:chgData name="khaja hussain" userId="4e1fe78a519a1d22" providerId="LiveId" clId="{BFEA681B-A70F-4ED4-9D02-8CC26EF55A59}" dt="2026-07-25T03:51:16.291" v="457" actId="22"/>
          <ac:spMkLst>
            <pc:docMk/>
            <pc:sldMk cId="1666536429" sldId="263"/>
            <ac:spMk id="7" creationId="{E4F58799-1259-2FC7-25A4-6B1DBEBAB5BD}"/>
          </ac:spMkLst>
        </pc:spChg>
      </pc:sldChg>
      <pc:sldChg chg="add del">
        <pc:chgData name="khaja hussain" userId="4e1fe78a519a1d22" providerId="LiveId" clId="{BFEA681B-A70F-4ED4-9D02-8CC26EF55A59}" dt="2026-07-25T03:45:54.056" v="422" actId="47"/>
        <pc:sldMkLst>
          <pc:docMk/>
          <pc:sldMk cId="2268226782" sldId="264"/>
        </pc:sldMkLst>
      </pc:sldChg>
      <pc:sldChg chg="addSp delSp modSp add mod">
        <pc:chgData name="khaja hussain" userId="4e1fe78a519a1d22" providerId="LiveId" clId="{BFEA681B-A70F-4ED4-9D02-8CC26EF55A59}" dt="2026-07-25T03:51:07.187" v="455" actId="22"/>
        <pc:sldMkLst>
          <pc:docMk/>
          <pc:sldMk cId="2332920405" sldId="264"/>
        </pc:sldMkLst>
        <pc:spChg chg="mod">
          <ac:chgData name="khaja hussain" userId="4e1fe78a519a1d22" providerId="LiveId" clId="{BFEA681B-A70F-4ED4-9D02-8CC26EF55A59}" dt="2026-07-25T03:46:49.193" v="427" actId="14100"/>
          <ac:spMkLst>
            <pc:docMk/>
            <pc:sldMk cId="2332920405" sldId="264"/>
            <ac:spMk id="4" creationId="{D45A0763-4946-21FE-7D00-BBBF7567EB9A}"/>
          </ac:spMkLst>
        </pc:spChg>
        <pc:spChg chg="mod">
          <ac:chgData name="khaja hussain" userId="4e1fe78a519a1d22" providerId="LiveId" clId="{BFEA681B-A70F-4ED4-9D02-8CC26EF55A59}" dt="2026-07-25T03:50:56.068" v="453" actId="1076"/>
          <ac:spMkLst>
            <pc:docMk/>
            <pc:sldMk cId="2332920405" sldId="264"/>
            <ac:spMk id="6" creationId="{76B2B63A-835C-44A5-31F2-2B356AECB769}"/>
          </ac:spMkLst>
        </pc:spChg>
        <pc:spChg chg="add del">
          <ac:chgData name="khaja hussain" userId="4e1fe78a519a1d22" providerId="LiveId" clId="{BFEA681B-A70F-4ED4-9D02-8CC26EF55A59}" dt="2026-07-25T03:51:07.187" v="455" actId="22"/>
          <ac:spMkLst>
            <pc:docMk/>
            <pc:sldMk cId="2332920405" sldId="264"/>
            <ac:spMk id="7" creationId="{3A1EA011-018B-5931-5288-B2B6E22FB160}"/>
          </ac:spMkLst>
        </pc:spChg>
      </pc:sldChg>
      <pc:sldChg chg="modSp add mod">
        <pc:chgData name="khaja hussain" userId="4e1fe78a519a1d22" providerId="LiveId" clId="{BFEA681B-A70F-4ED4-9D02-8CC26EF55A59}" dt="2026-07-25T03:53:31.610" v="472" actId="12"/>
        <pc:sldMkLst>
          <pc:docMk/>
          <pc:sldMk cId="2903896393" sldId="265"/>
        </pc:sldMkLst>
        <pc:spChg chg="mod">
          <ac:chgData name="khaja hussain" userId="4e1fe78a519a1d22" providerId="LiveId" clId="{BFEA681B-A70F-4ED4-9D02-8CC26EF55A59}" dt="2026-07-25T03:51:36.046" v="459"/>
          <ac:spMkLst>
            <pc:docMk/>
            <pc:sldMk cId="2903896393" sldId="265"/>
            <ac:spMk id="4" creationId="{E5158DE0-76F6-7616-D8A9-C956698E97D7}"/>
          </ac:spMkLst>
        </pc:spChg>
        <pc:spChg chg="mod">
          <ac:chgData name="khaja hussain" userId="4e1fe78a519a1d22" providerId="LiveId" clId="{BFEA681B-A70F-4ED4-9D02-8CC26EF55A59}" dt="2026-07-25T03:53:31.610" v="472" actId="12"/>
          <ac:spMkLst>
            <pc:docMk/>
            <pc:sldMk cId="2903896393" sldId="265"/>
            <ac:spMk id="6" creationId="{7EBB5575-21B9-DF95-825C-1AE0EE8F3E51}"/>
          </ac:spMkLst>
        </pc:spChg>
      </pc:sldChg>
      <pc:sldChg chg="modSp add mod ord">
        <pc:chgData name="khaja hussain" userId="4e1fe78a519a1d22" providerId="LiveId" clId="{BFEA681B-A70F-4ED4-9D02-8CC26EF55A59}" dt="2026-07-25T03:56:15.998" v="492"/>
        <pc:sldMkLst>
          <pc:docMk/>
          <pc:sldMk cId="3207201669" sldId="266"/>
        </pc:sldMkLst>
        <pc:spChg chg="mod">
          <ac:chgData name="khaja hussain" userId="4e1fe78a519a1d22" providerId="LiveId" clId="{BFEA681B-A70F-4ED4-9D02-8CC26EF55A59}" dt="2026-07-25T03:54:34.427" v="478" actId="1076"/>
          <ac:spMkLst>
            <pc:docMk/>
            <pc:sldMk cId="3207201669" sldId="266"/>
            <ac:spMk id="4" creationId="{05349236-B16D-B2C5-B55D-4736B2FD90ED}"/>
          </ac:spMkLst>
        </pc:spChg>
        <pc:spChg chg="mod">
          <ac:chgData name="khaja hussain" userId="4e1fe78a519a1d22" providerId="LiveId" clId="{BFEA681B-A70F-4ED4-9D02-8CC26EF55A59}" dt="2026-07-25T03:56:02.313" v="490" actId="12"/>
          <ac:spMkLst>
            <pc:docMk/>
            <pc:sldMk cId="3207201669" sldId="266"/>
            <ac:spMk id="6" creationId="{A4A3B8E5-3890-7033-078D-2B2BB079F3A1}"/>
          </ac:spMkLst>
        </pc:spChg>
      </pc:sldChg>
      <pc:sldChg chg="modSp add del mod ord">
        <pc:chgData name="khaja hussain" userId="4e1fe78a519a1d22" providerId="LiveId" clId="{BFEA681B-A70F-4ED4-9D02-8CC26EF55A59}" dt="2026-07-25T04:01:34.441" v="499" actId="47"/>
        <pc:sldMkLst>
          <pc:docMk/>
          <pc:sldMk cId="1957088976" sldId="267"/>
        </pc:sldMkLst>
        <pc:spChg chg="mod">
          <ac:chgData name="khaja hussain" userId="4e1fe78a519a1d22" providerId="LiveId" clId="{BFEA681B-A70F-4ED4-9D02-8CC26EF55A59}" dt="2026-07-25T04:01:16.793" v="497" actId="20577"/>
          <ac:spMkLst>
            <pc:docMk/>
            <pc:sldMk cId="1957088976" sldId="267"/>
            <ac:spMk id="4" creationId="{E5B938B7-E963-FC8C-CE89-32250A678AEC}"/>
          </ac:spMkLst>
        </pc:spChg>
      </pc:sldChg>
      <pc:sldChg chg="modSp add mod">
        <pc:chgData name="khaja hussain" userId="4e1fe78a519a1d22" providerId="LiveId" clId="{BFEA681B-A70F-4ED4-9D02-8CC26EF55A59}" dt="2026-07-25T04:03:27.176" v="517" actId="1076"/>
        <pc:sldMkLst>
          <pc:docMk/>
          <pc:sldMk cId="2457995318" sldId="268"/>
        </pc:sldMkLst>
        <pc:spChg chg="mod">
          <ac:chgData name="khaja hussain" userId="4e1fe78a519a1d22" providerId="LiveId" clId="{BFEA681B-A70F-4ED4-9D02-8CC26EF55A59}" dt="2026-07-25T04:02:08.809" v="505" actId="14100"/>
          <ac:spMkLst>
            <pc:docMk/>
            <pc:sldMk cId="2457995318" sldId="268"/>
            <ac:spMk id="4" creationId="{9A9F4EE6-A94A-48C9-353E-9BC659DA8394}"/>
          </ac:spMkLst>
        </pc:spChg>
        <pc:spChg chg="mod">
          <ac:chgData name="khaja hussain" userId="4e1fe78a519a1d22" providerId="LiveId" clId="{BFEA681B-A70F-4ED4-9D02-8CC26EF55A59}" dt="2026-07-25T04:03:27.176" v="517" actId="1076"/>
          <ac:spMkLst>
            <pc:docMk/>
            <pc:sldMk cId="2457995318" sldId="268"/>
            <ac:spMk id="6" creationId="{3F54F4A9-E80E-204C-7BAD-413F518DFD53}"/>
          </ac:spMkLst>
        </pc:spChg>
      </pc:sldChg>
      <pc:sldChg chg="add del">
        <pc:chgData name="khaja hussain" userId="4e1fe78a519a1d22" providerId="LiveId" clId="{BFEA681B-A70F-4ED4-9D02-8CC26EF55A59}" dt="2026-07-25T04:01:49.056" v="503"/>
        <pc:sldMkLst>
          <pc:docMk/>
          <pc:sldMk cId="3354619650" sldId="269"/>
        </pc:sldMkLst>
      </pc:sldChg>
      <pc:sldChg chg="addSp delSp modSp add mod">
        <pc:chgData name="khaja hussain" userId="4e1fe78a519a1d22" providerId="LiveId" clId="{BFEA681B-A70F-4ED4-9D02-8CC26EF55A59}" dt="2026-07-25T04:12:30.479" v="596" actId="20577"/>
        <pc:sldMkLst>
          <pc:docMk/>
          <pc:sldMk cId="3960794468" sldId="269"/>
        </pc:sldMkLst>
        <pc:spChg chg="mod">
          <ac:chgData name="khaja hussain" userId="4e1fe78a519a1d22" providerId="LiveId" clId="{BFEA681B-A70F-4ED4-9D02-8CC26EF55A59}" dt="2026-07-25T04:09:05.520" v="592" actId="1076"/>
          <ac:spMkLst>
            <pc:docMk/>
            <pc:sldMk cId="3960794468" sldId="269"/>
            <ac:spMk id="4" creationId="{9106AC19-B951-AFD8-7BBF-584E5F811699}"/>
          </ac:spMkLst>
        </pc:spChg>
        <pc:spChg chg="del mod">
          <ac:chgData name="khaja hussain" userId="4e1fe78a519a1d22" providerId="LiveId" clId="{BFEA681B-A70F-4ED4-9D02-8CC26EF55A59}" dt="2026-07-25T04:05:16.052" v="522"/>
          <ac:spMkLst>
            <pc:docMk/>
            <pc:sldMk cId="3960794468" sldId="269"/>
            <ac:spMk id="6" creationId="{AF4790A2-7AF4-1E91-959A-E5768783D7F8}"/>
          </ac:spMkLst>
        </pc:spChg>
        <pc:graphicFrameChg chg="add mod">
          <ac:chgData name="khaja hussain" userId="4e1fe78a519a1d22" providerId="LiveId" clId="{BFEA681B-A70F-4ED4-9D02-8CC26EF55A59}" dt="2026-07-25T04:05:08.007" v="519"/>
          <ac:graphicFrameMkLst>
            <pc:docMk/>
            <pc:sldMk cId="3960794468" sldId="269"/>
            <ac:graphicFrameMk id="5" creationId="{3EE17AC7-F280-5785-E7FB-E8124BB7810E}"/>
          </ac:graphicFrameMkLst>
        </pc:graphicFrameChg>
        <pc:graphicFrameChg chg="add mod modGraphic">
          <ac:chgData name="khaja hussain" userId="4e1fe78a519a1d22" providerId="LiveId" clId="{BFEA681B-A70F-4ED4-9D02-8CC26EF55A59}" dt="2026-07-25T04:09:09.698" v="593" actId="1076"/>
          <ac:graphicFrameMkLst>
            <pc:docMk/>
            <pc:sldMk cId="3960794468" sldId="269"/>
            <ac:graphicFrameMk id="7" creationId="{755411A6-F5A8-E22F-1388-405192408DE6}"/>
          </ac:graphicFrameMkLst>
        </pc:graphicFrameChg>
        <pc:graphicFrameChg chg="add mod modGraphic">
          <ac:chgData name="khaja hussain" userId="4e1fe78a519a1d22" providerId="LiveId" clId="{BFEA681B-A70F-4ED4-9D02-8CC26EF55A59}" dt="2026-07-25T04:12:30.479" v="596" actId="20577"/>
          <ac:graphicFrameMkLst>
            <pc:docMk/>
            <pc:sldMk cId="3960794468" sldId="269"/>
            <ac:graphicFrameMk id="8" creationId="{B5FE7010-526F-5E63-B570-D4B219B60DA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51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2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88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1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7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2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5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62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15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33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433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36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812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579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425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395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39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7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6607" y="2438400"/>
            <a:ext cx="105987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61340" algn="ctr">
              <a:lnSpc>
                <a:spcPct val="100000"/>
              </a:lnSpc>
            </a:pPr>
            <a:r>
              <a:rPr lang="en-IN" sz="3200" b="1" dirty="0"/>
              <a:t>Carbon Footprint Tracking and Sustainability Management System</a:t>
            </a:r>
          </a:p>
          <a:p>
            <a:pPr marR="561340" algn="ctr">
              <a:lnSpc>
                <a:spcPct val="100000"/>
              </a:lnSpc>
            </a:pPr>
            <a:r>
              <a:rPr lang="en-IN" sz="2000" b="1" spc="-25" dirty="0">
                <a:latin typeface="Times New Roman"/>
                <a:cs typeface="Times New Roman"/>
              </a:rPr>
              <a:t>CSA1008</a:t>
            </a:r>
            <a:r>
              <a:rPr lang="en-IN" sz="2400" b="1" spc="-25" dirty="0">
                <a:latin typeface="Times New Roman"/>
                <a:cs typeface="Times New Roman"/>
              </a:rPr>
              <a:t>-Software Engineering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19200" y="1458586"/>
            <a:ext cx="10515600" cy="737971"/>
          </a:xfrm>
          <a:prstGeom prst="rect">
            <a:avLst/>
          </a:prstGeom>
        </p:spPr>
        <p:txBody>
          <a:bodyPr vert="horz" wrap="square" lIns="0" tIns="30411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IN" sz="2800" dirty="0"/>
              <a:t>Capstone Project</a:t>
            </a:r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29E37-9E7A-2FEE-F8E1-100E4487BE9F}"/>
              </a:ext>
            </a:extLst>
          </p:cNvPr>
          <p:cNvSpPr/>
          <p:nvPr/>
        </p:nvSpPr>
        <p:spPr>
          <a:xfrm>
            <a:off x="7772400" y="3875332"/>
            <a:ext cx="4191000" cy="24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58800" algn="ctr">
              <a:lnSpc>
                <a:spcPct val="100000"/>
              </a:lnSpc>
              <a:spcBef>
                <a:spcPts val="1545"/>
              </a:spcBef>
            </a:pPr>
            <a:r>
              <a:rPr lang="en-IN" b="1" dirty="0">
                <a:solidFill>
                  <a:srgbClr val="205F9A"/>
                </a:solidFill>
                <a:latin typeface="Times New Roman"/>
                <a:cs typeface="Times New Roman"/>
              </a:rPr>
              <a:t>Presented</a:t>
            </a:r>
            <a:r>
              <a:rPr lang="en-IN" b="1" spc="-120" dirty="0">
                <a:solidFill>
                  <a:srgbClr val="205F9A"/>
                </a:solidFill>
                <a:latin typeface="Times New Roman"/>
                <a:cs typeface="Times New Roman"/>
              </a:rPr>
              <a:t> </a:t>
            </a:r>
            <a:r>
              <a:rPr lang="en-IN" b="1" spc="-25" dirty="0">
                <a:solidFill>
                  <a:srgbClr val="205F9A"/>
                </a:solidFill>
                <a:latin typeface="Times New Roman"/>
                <a:cs typeface="Times New Roman"/>
              </a:rPr>
              <a:t>By:</a:t>
            </a:r>
          </a:p>
          <a:p>
            <a:pPr marR="558800" algn="ctr">
              <a:lnSpc>
                <a:spcPct val="100000"/>
              </a:lnSpc>
              <a:spcBef>
                <a:spcPts val="1545"/>
              </a:spcBef>
            </a:pPr>
            <a:endParaRPr lang="en-IN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1A8EFB51-2275-A86C-215A-01CA2FE89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33" y="592392"/>
            <a:ext cx="9985131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B109AD-ACF4-F992-54EF-C09412E7F54E}"/>
              </a:ext>
            </a:extLst>
          </p:cNvPr>
          <p:cNvSpPr txBox="1"/>
          <p:nvPr/>
        </p:nvSpPr>
        <p:spPr>
          <a:xfrm>
            <a:off x="914400" y="48006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Course Faculty</a:t>
            </a:r>
            <a:r>
              <a:rPr lang="en-US" dirty="0"/>
              <a:t>:</a:t>
            </a:r>
          </a:p>
          <a:p>
            <a:r>
              <a:rPr lang="en-US" dirty="0" err="1"/>
              <a:t>Dr.K.C.Sharmili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75FB-6437-B145-55EA-5F703AB2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7FDDF41A-DAB4-B6DF-D445-44CBB397CF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05349236-B16D-B2C5-B55D-4736B2FD90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513924"/>
            <a:ext cx="8077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1" dirty="0"/>
              <a:t>Introduction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4A3B8E5-3890-7033-078D-2B2BB079F3A1}"/>
              </a:ext>
            </a:extLst>
          </p:cNvPr>
          <p:cNvSpPr txBox="1"/>
          <p:nvPr/>
        </p:nvSpPr>
        <p:spPr>
          <a:xfrm>
            <a:off x="1070738" y="1204498"/>
            <a:ext cx="960120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Tracking and Sustainability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solution designed to monitor, calculate, and manage carbon emissions generated by individuals, organizations, or institutions.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carbon tracking methods often depend on manual calculations and scattered data, making it difficult to accurately monitor emissions and identify areas for improvement.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collects information related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consumption, transportation, fuel usage, waste generation, and other activities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converts this information into estimated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dashboards, reports, and recommendations to help users understand their environmental impact and adopt more sustainable practices.</a:t>
            </a:r>
          </a:p>
          <a:p>
            <a:endParaRPr lang="en-IN" sz="2400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4106A194-E7A9-5BAA-C365-28DB8ECE04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0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4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75FB-6437-B145-55EA-5F703AB2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E8AE863-BDD7-855C-F534-5FE049956F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FDDF41A-DAB4-B6DF-D445-44CBB397CF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05349236-B16D-B2C5-B55D-4736B2FD90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37035"/>
            <a:ext cx="70866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imes New Roman"/>
                <a:cs typeface="Times New Roman"/>
              </a:rPr>
              <a:t> Objectives</a:t>
            </a:r>
            <a:endParaRPr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4A3B8E5-3890-7033-078D-2B2BB079F3A1}"/>
              </a:ext>
            </a:extLst>
          </p:cNvPr>
          <p:cNvSpPr txBox="1"/>
          <p:nvPr/>
        </p:nvSpPr>
        <p:spPr>
          <a:xfrm>
            <a:off x="1104900" y="1524000"/>
            <a:ext cx="9601200" cy="482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calculates, tracks,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helps reduce carbon emissions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users with meaningful sustainability insights.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carbon emissions from different activities.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or organizational carbon footprint over time.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major sources of CO₂ emissions.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sustainability recommendations.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carbon footprint reports and analytics.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progress toward emission-reduction goals.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environmentally responsible practices.</a:t>
            </a:r>
          </a:p>
          <a:p>
            <a:pPr marL="2540" algn="just">
              <a:lnSpc>
                <a:spcPct val="150000"/>
              </a:lnSpc>
              <a:spcBef>
                <a:spcPts val="100"/>
              </a:spcBef>
              <a:buSzPct val="94444"/>
              <a:tabLst>
                <a:tab pos="91440" algn="l"/>
              </a:tabLst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20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DDF3-14A9-E93A-F73F-9CFC515E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3D44239-E4D3-D055-30D5-A885F1A98C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F646CC02-590B-55C7-2FFD-DB0BCF397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37035"/>
            <a:ext cx="80772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800" dirty="0"/>
              <a:t>Techniques Used:</a:t>
            </a:r>
            <a:endParaRPr sz="2800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FF1E15E2-CE0F-EF4C-B6CA-DFC705B93F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0"/>
            <a:ext cx="1520062" cy="134289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BF2A87-3C63-167B-FA85-872924715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8830"/>
              </p:ext>
            </p:extLst>
          </p:nvPr>
        </p:nvGraphicFramePr>
        <p:xfrm>
          <a:off x="1295400" y="1524001"/>
          <a:ext cx="96012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960832988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66879094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 /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 Used in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9201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Carbon Emission Factor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 activity data into CO₂ emissions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84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and process user activity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175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activity, emission, and sustainability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80033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 emission trends and category-wise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46226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major sources of carbon emissions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2404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Recommendation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Suggest methods to reduce emissions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30673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Goal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 sustainability and emission-reduction targets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881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E61741-DB44-93FF-743A-EE5EEA45DED8}"/>
              </a:ext>
            </a:extLst>
          </p:cNvPr>
          <p:cNvSpPr txBox="1"/>
          <p:nvPr/>
        </p:nvSpPr>
        <p:spPr>
          <a:xfrm>
            <a:off x="1676400" y="4728397"/>
            <a:ext cx="61173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Basic Calculation</a:t>
            </a:r>
          </a:p>
          <a:p>
            <a:pPr>
              <a:buNone/>
            </a:pPr>
            <a:r>
              <a:rPr lang="en-IN" b="1" dirty="0"/>
              <a:t>Carbon Emission = Activity Data × Emission Factor</a:t>
            </a: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r>
              <a:rPr lang="en-IN" b="1" dirty="0"/>
              <a:t>Electricity Consumption × Electricity Emission Factor = CO₂ Emission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88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6F09-E65B-998F-463B-5802C682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614F8-37E3-26B7-85DF-46D71E5B9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914401"/>
            <a:ext cx="9753600" cy="49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3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71D0-3DEE-2BDD-7B95-17B1CF97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609CA1B-ED5F-B80E-123B-B2DC4A9261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8813EBB0-62C9-7474-5FFB-A88C9AA4D8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400" y="1524000"/>
            <a:ext cx="3951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991C4553-387F-C33F-8250-9D1F5945B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0" y="578723"/>
            <a:ext cx="5245627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imes New Roman"/>
                <a:cs typeface="Times New Roman"/>
              </a:rPr>
              <a:t>Module 1: </a:t>
            </a:r>
            <a:r>
              <a:rPr lang="en-IN" sz="2800" dirty="0"/>
              <a:t>User &amp; Activity Management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8A06-B53D-C969-F1B4-81C54F36B5D5}"/>
              </a:ext>
            </a:extLst>
          </p:cNvPr>
          <p:cNvSpPr txBox="1"/>
          <p:nvPr/>
        </p:nvSpPr>
        <p:spPr>
          <a:xfrm>
            <a:off x="1295400" y="1305342"/>
            <a:ext cx="9525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create profiles and enter their daily or periodic activities that contribute to carbon emissions.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profile.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electricity consumption.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transportation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fuel consumption.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waste-generation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other carbon-producing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or update activity records.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the system with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activity data required for calculating the user's carbon footprint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653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65C7-D410-C432-7058-027C5CC88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869277B-D392-D89B-39BC-C38F443207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CFF5C623-F829-37D2-7223-8505F81B92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D45A0763-4946-21FE-7D00-BBBF7567E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0" y="578723"/>
            <a:ext cx="5410200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imes New Roman"/>
                <a:cs typeface="Times New Roman"/>
              </a:rPr>
              <a:t>Module 2: c</a:t>
            </a:r>
            <a:r>
              <a:rPr lang="en-IN" sz="2800" dirty="0" err="1"/>
              <a:t>arbon</a:t>
            </a:r>
            <a:r>
              <a:rPr lang="en-IN" sz="2800" dirty="0"/>
              <a:t> Footprint Calculation</a:t>
            </a:r>
            <a:endParaRPr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6B2B63A-835C-44A5-31F2-2B356AECB769}"/>
              </a:ext>
            </a:extLst>
          </p:cNvPr>
          <p:cNvSpPr txBox="1"/>
          <p:nvPr/>
        </p:nvSpPr>
        <p:spPr>
          <a:xfrm>
            <a:off x="1295400" y="1281468"/>
            <a:ext cx="9601200" cy="49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calculates the estimated carbon emissions generated from the activities entered by the user.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activity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appropriate emission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CO₂ emissions.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category-wise emissions.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carbon footprint.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daily, monthly, and yearly emission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calculated emission results.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converts user activity data into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carbon footprint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" indent="-88900" algn="just">
              <a:lnSpc>
                <a:spcPct val="15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292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16A3-AA06-6BAD-CF16-2F21C04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1A09083-AAD6-6FB6-CB0A-F5B9A9F457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50BC5987-E456-948C-E730-1898FDE287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E5158DE0-76F6-7616-D8A9-C956698E9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0" y="578723"/>
            <a:ext cx="5410200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imes New Roman"/>
                <a:cs typeface="Times New Roman"/>
              </a:rPr>
              <a:t>Module 3: </a:t>
            </a:r>
            <a:r>
              <a:rPr lang="en-IN" sz="2800" dirty="0"/>
              <a:t>Sustainability Dashboard &amp; Analytics</a:t>
            </a:r>
            <a:endParaRPr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EBB5575-21B9-DF95-825C-1AE0EE8F3E51}"/>
              </a:ext>
            </a:extLst>
          </p:cNvPr>
          <p:cNvSpPr txBox="1"/>
          <p:nvPr/>
        </p:nvSpPr>
        <p:spPr>
          <a:xfrm>
            <a:off x="1295400" y="1281468"/>
            <a:ext cx="9601200" cy="52751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Sustainability Dashboard provides a centralized interface for monitoring carbon emissions and understanding environmental impact.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total carbon footprint.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category-wise emissions.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emission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monthly/yearly emissions.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highest emission source.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sustainability statistics.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charts and graphs.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their carbon footprint and identify activities responsible for the highest emissions</a:t>
            </a:r>
            <a:r>
              <a:rPr lang="en-IN" sz="1600" dirty="0"/>
              <a:t>.</a:t>
            </a:r>
          </a:p>
          <a:p>
            <a:pPr marL="91440" indent="-88900" algn="just">
              <a:lnSpc>
                <a:spcPct val="15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389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AAA3-1082-FEDF-289F-CC1BCD7F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D1DE4B6-8DE2-A934-1CF2-1D7DEE7F05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FBD3B170-BF85-A1CE-EA12-EAE91AA2BA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9A9F4EE6-A94A-48C9-353E-9BC659DA8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578723"/>
            <a:ext cx="6324600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imes New Roman"/>
                <a:cs typeface="Times New Roman"/>
              </a:rPr>
              <a:t>Module 4: </a:t>
            </a:r>
            <a:r>
              <a:rPr lang="en-IN" sz="2800" dirty="0"/>
              <a:t>Sustainability Recommendation System</a:t>
            </a:r>
            <a:endParaRPr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F54F4A9-E80E-204C-7BAD-413F518DFD53}"/>
              </a:ext>
            </a:extLst>
          </p:cNvPr>
          <p:cNvSpPr txBox="1"/>
          <p:nvPr/>
        </p:nvSpPr>
        <p:spPr>
          <a:xfrm>
            <a:off x="1295400" y="1118235"/>
            <a:ext cx="9601200" cy="5008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personalized recommendations based on the user's major sources of carbon emissions.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high-emission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energy-saving practices.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sustainable transportation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waste-reduction methods.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renewable-energy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methods to reduce fuel consumption.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personalized sustainability tips.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helps users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practical actions to reduce their carbon footprint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" indent="-88900" algn="just">
              <a:lnSpc>
                <a:spcPct val="15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799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287E-E92D-AA75-BD17-A3C0C8D0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Module 5: </a:t>
            </a:r>
            <a:r>
              <a:rPr lang="en-IN" dirty="0"/>
              <a:t>Goal Tracking &amp; Sustainability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037F-E9EE-B590-467A-D29C7D83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or organizations to set emission-reduction targets and monitor their sustainability progress.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carbon-reduction goals.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target emission levels.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 toward goals.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current emissions with previous periods.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sustainability reports.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achieved reduction percentage.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continuously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their sustainability performance and measure progress toward carbon-reduction goals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483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7A33-6817-F994-A905-556F072B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Dataset Explanation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18EB7C-70E9-503F-4814-777F49C20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844731"/>
              </p:ext>
            </p:extLst>
          </p:nvPr>
        </p:nvGraphicFramePr>
        <p:xfrm>
          <a:off x="1600201" y="1905000"/>
          <a:ext cx="8991600" cy="3983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593399289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73482502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1034282962"/>
                    </a:ext>
                  </a:extLst>
                </a:gridCol>
              </a:tblGrid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Column Name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Description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Example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578028569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User_ID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Unique user identifier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U001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1454815235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Activity_Date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Date of activity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2026-08-31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2896845652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Electricity_Usage</a:t>
                      </a:r>
                      <a:endParaRPr lang="en-IN" sz="1100" dirty="0"/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Electricity consumed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120 kWh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14578233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Fuel_Consumption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Fuel consumed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 L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1669139147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Transport_Distance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Distance travelled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150 km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3634256056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Transport_Mode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Type of transportation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Car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370716742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Waste_Generated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Waste produced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5 kg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730677898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Electricity_CO2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Electricity emissions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72 kg CO₂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3529137346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Transport_CO2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Transport emissions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30 kg CO₂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511721698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Fuel_CO2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Fuel emissions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46 kg CO₂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2106176407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Waste_CO2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Waste emissions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3 kg CO₂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490478936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Total_CO2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Total emissions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151 kg CO₂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303874240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Reduction_Target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Target reduction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10%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3827987455"/>
                  </a:ext>
                </a:extLst>
              </a:tr>
              <a:tr h="26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Sustainability_Score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Sustainability performance</a:t>
                      </a:r>
                    </a:p>
                  </a:txBody>
                  <a:tcPr marL="55298" marR="55298" marT="27649" marB="27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78</a:t>
                      </a:r>
                    </a:p>
                  </a:txBody>
                  <a:tcPr marL="55298" marR="55298" marT="27649" marB="27649" anchor="ctr"/>
                </a:tc>
                <a:extLst>
                  <a:ext uri="{0D108BD9-81ED-4DB2-BD59-A6C34878D82A}">
                    <a16:rowId xmlns:a16="http://schemas.microsoft.com/office/drawing/2014/main" val="26946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86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D680E-5CC9-DA40-4D67-9198F575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2">
            <a:extLst>
              <a:ext uri="{FF2B5EF4-FFF2-40B4-BE49-F238E27FC236}">
                <a16:creationId xmlns:a16="http://schemas.microsoft.com/office/drawing/2014/main" id="{9E56904B-9876-5BAC-CB14-7231824932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1938" y="0"/>
            <a:ext cx="1520062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D6D86-2C0F-DF77-E65A-F8FF587B8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4999"/>
            <a:ext cx="10744200" cy="4191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7D752-79F5-7685-A4BC-728BF89478C7}"/>
              </a:ext>
            </a:extLst>
          </p:cNvPr>
          <p:cNvSpPr txBox="1"/>
          <p:nvPr/>
        </p:nvSpPr>
        <p:spPr>
          <a:xfrm>
            <a:off x="4191000" y="1066800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8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5932-63BA-BA43-51BD-492710C5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60A3F69-EC96-C809-E8AB-A36FE63426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159E915-824D-668B-010A-923EC76A99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507DDF3C-66B0-4FAD-CCA8-8C29123D1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513924"/>
            <a:ext cx="8077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1" dirty="0"/>
              <a:t>Result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5C80032-EA58-4072-E4E5-243A155F801B}"/>
              </a:ext>
            </a:extLst>
          </p:cNvPr>
          <p:cNvSpPr txBox="1"/>
          <p:nvPr/>
        </p:nvSpPr>
        <p:spPr>
          <a:xfrm>
            <a:off x="1066800" y="1118235"/>
            <a:ext cx="9601200" cy="532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Tracking and Sustainability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provides a structured approach for monitoring and managing carbon emissions.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activity-related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estimated carbon emissions.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Categorizes emissions by source.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emission trends through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major contributors to carbon footprint.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2900" algn="just">
              <a:lnSpc>
                <a:spcPct val="1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v"/>
              <a:tabLst>
                <a:tab pos="9144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their environmental impact, make informed decisions, and work toward reducing their carbon footprint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8290" indent="-2857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91440" algn="l"/>
              </a:tabLst>
            </a:pPr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989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B893F-744D-0522-F012-AF1B5ED9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682C16A-3B4C-45F3-AC13-03973066F1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1938" y="0"/>
            <a:ext cx="1520062" cy="134289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763FA96-C116-82A7-DB44-986DE61E22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1524000"/>
            <a:ext cx="3570317" cy="421576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B55B7196-0718-D012-17AD-C73DF42E3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513924"/>
            <a:ext cx="8077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FB167D-2CB0-BD0F-7665-24B9A16FFC91}"/>
              </a:ext>
            </a:extLst>
          </p:cNvPr>
          <p:cNvSpPr txBox="1"/>
          <p:nvPr/>
        </p:nvSpPr>
        <p:spPr>
          <a:xfrm>
            <a:off x="946958" y="1118235"/>
            <a:ext cx="9601200" cy="4903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Tracking and Sustainability Management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integrated solution for monitoring and managing carbon emissions.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tracking, carbon calculation, analytics, recommendations, and goal tracking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makes sustainability management easier and more organized.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software-based monitoring can help individuals and organizations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their environmental impact, identify high-emission activities, and adopt more sustainable practices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5440" indent="-34290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§"/>
              <a:tabLst>
                <a:tab pos="91440" algn="l"/>
              </a:tabLst>
            </a:pP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4793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Thank You Synonyms | Polite &amp; Professional Alternativ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192</TotalTime>
  <Words>940</Words>
  <Application>Microsoft Office PowerPoint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Garamond</vt:lpstr>
      <vt:lpstr>Times New Roman</vt:lpstr>
      <vt:lpstr>Wingdings</vt:lpstr>
      <vt:lpstr>Organic</vt:lpstr>
      <vt:lpstr>Capstone Project</vt:lpstr>
      <vt:lpstr>Introduction</vt:lpstr>
      <vt:lpstr> Objectives</vt:lpstr>
      <vt:lpstr>Techniques Used:</vt:lpstr>
      <vt:lpstr>PowerPoint Presentation</vt:lpstr>
      <vt:lpstr>Module 1: User &amp; Activity Management</vt:lpstr>
      <vt:lpstr>Module 2: carbon Footprint Calculation</vt:lpstr>
      <vt:lpstr>Module 3: Sustainability Dashboard &amp; Analytics</vt:lpstr>
      <vt:lpstr>Module 4: Sustainability Recommendation System</vt:lpstr>
      <vt:lpstr>Module 5: Goal Tracking &amp; Sustainability Reports</vt:lpstr>
      <vt:lpstr>Dataset Explanation </vt:lpstr>
      <vt:lpstr>PowerPoint Presentation</vt:lpstr>
      <vt:lpstr>Result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Mubarak Shaik</dc:creator>
  <cp:lastModifiedBy>Naveen MS</cp:lastModifiedBy>
  <cp:revision>4</cp:revision>
  <dcterms:created xsi:type="dcterms:W3CDTF">2026-06-16T04:29:53Z</dcterms:created>
  <dcterms:modified xsi:type="dcterms:W3CDTF">2026-08-31T14:27:14Z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2026-06-16T00:00:00Z</vt:filetime>
  </property>
  <property fmtid="{D5CDD505-2E9C-101B-9397-08002B2CF9AE}" pid="6" name="Producer">
    <vt:lpwstr>Microsoft® PowerPoint® 2024</vt:lpwstr>
  </property>
</Properties>
</file>